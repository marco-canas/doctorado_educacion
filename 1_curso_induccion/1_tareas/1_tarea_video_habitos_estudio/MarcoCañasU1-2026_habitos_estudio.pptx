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5" r:id="rId4"/>
    <p:sldId id="260" r:id="rId5"/>
    <p:sldId id="262" r:id="rId6"/>
    <p:sldId id="264" r:id="rId7"/>
    <p:sldId id="259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A38D8-1266-7CF9-2D23-08615CBB6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A641BB-1720-F0C0-D65D-817969A7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FF3DBD-0CF3-4F91-106B-B6769574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B3870D-BD0F-56E3-6796-073ECFFB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D632E-DED3-8653-CE70-160E32CA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625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8B1C-5CB8-03AB-B387-65D3F1B5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572484-AECA-B2DB-85F8-1357097F9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84DFF8-2C51-CA75-4350-56577BA4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1A17D-8F4B-6965-D583-7B35B40D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9DA737-FDDB-934F-D1C1-F854AC8A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502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FA664-E193-C7BD-9A9B-36C4AD43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5C9420-AFD0-C99E-BF76-976D6563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D547AC-08C6-B9A2-6501-B98C105B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4DD610-A8B9-BD92-E700-802DCC27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A4ADCF-D7D3-6429-B061-4FDB2DEB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15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04CE9-A91D-8E40-B71E-6D0932CC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FD1EA-B814-0478-C31C-8EAC24589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2F563E-9F62-CF96-4B98-BB07C750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F49A08-CF52-500C-E698-C90CF143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F5A7E2-466C-1695-C7FC-DEFF36FA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DDA0D9-E594-83C9-6BE0-B71791B8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01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EF9FF-A1BB-D924-5518-57DDE42A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70AE0E-71F2-097F-BFFA-7E3F435C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DF4E7C-6D04-DF38-C9B6-0E5523EF4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8AD05B-D7A6-1ED9-2607-9ADD85971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97D7D4-2ECB-40B0-98FF-84807EB76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4CF7BB-3776-4712-7B3B-6564B8F0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47B214-DA8A-7B76-2CB4-03840126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5B529F-9F7B-A42E-24EC-C65F016F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421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3AA00-845F-AD76-E425-C971B655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5FD71F-DAD4-6244-70D5-9F00C8CB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611BE7-D733-A270-9225-743466C3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3E251C-085E-47AE-5DA1-B6EC52B8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39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6D99E5-DE0A-217C-D006-C187B2EF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81151E-57A2-64F6-1BF4-D7C8CD41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0C155B-AE61-31CC-2212-20C9388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545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9307D-3885-F053-4BCB-1BC7E83B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C457A0-BFE8-DB8C-F6F1-25EC19F1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CFD805-6FF4-EF0E-C386-57E60E01D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BA1D85-6F0A-D85F-DA29-57342B00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CA0D0-16F3-DB99-D877-20E5DFED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56746B-7CD0-0347-37E5-073EB6DD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709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11DFA-4D9F-FF22-8482-984F2547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ED29E0-CA3D-E312-E1C5-9AF2CA399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1F3AD8-8174-73BB-0451-33FC1C482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61D9FE-1B1C-2572-0D82-CDE90807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19134A-4388-F93E-AC96-0464E386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92CC50-720B-0E67-BFC1-4C8AE170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17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452C0-1D7E-767D-35D6-C366D724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EC6720-F73C-7311-3172-08039AE52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67233C-AE39-FC7B-EC03-FCA156BA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287B03-8537-2A88-D063-C5524C4A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3D0314-F5DC-6084-1E48-DE5EC668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718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0C50E3-A7EE-5FBC-0F13-6EA3A348E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51CBD8-D55C-DE11-6584-334BCFBB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934755-4206-DF42-E63F-7604A076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B9EF4C-C477-0684-6D60-F81234DE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C3370-8416-F9DB-8F02-54DC55FA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225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5E5C41-F706-611E-DCE3-A4FD204C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AE3902-AFB3-6845-B4B3-736CA791C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38244-38D5-0B7D-0103-F2EE03088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E4257-D8AA-30D6-478F-396BEFA6F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12CB9-8CB5-95CA-A9B3-ED25A70B9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03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doi.org/10.36260/rbr.v8i10.829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57812-8957-947F-22D6-9C74760E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E4A83F-ED06-3E53-DD9D-BF1FB9A5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91B33B-B012-B95A-4616-AAB654F3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EA41A4-4ACF-8E5A-E8AD-BC1386E5D5AB}"/>
              </a:ext>
            </a:extLst>
          </p:cNvPr>
          <p:cNvSpPr txBox="1"/>
          <p:nvPr/>
        </p:nvSpPr>
        <p:spPr>
          <a:xfrm>
            <a:off x="2029597" y="681038"/>
            <a:ext cx="8152371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DCE CURSO DE INDUCCIÓN GW</a:t>
            </a:r>
            <a:endParaRPr lang="es-CO" dirty="0">
              <a:solidFill>
                <a:schemeClr val="bg1"/>
              </a:solidFill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</a:rPr>
              <a:t> </a:t>
            </a:r>
            <a:endParaRPr lang="es-CO" dirty="0">
              <a:solidFill>
                <a:schemeClr val="bg1"/>
              </a:solidFill>
            </a:endParaRPr>
          </a:p>
          <a:p>
            <a:pPr algn="ctr"/>
            <a:endParaRPr lang="es-CO" dirty="0">
              <a:solidFill>
                <a:schemeClr val="bg1"/>
              </a:solidFill>
            </a:endParaRPr>
          </a:p>
          <a:p>
            <a:r>
              <a:rPr lang="es-MX" dirty="0"/>
              <a:t> </a:t>
            </a:r>
            <a:endParaRPr lang="es-CO" dirty="0"/>
          </a:p>
          <a:p>
            <a:r>
              <a:rPr lang="es-MX" b="1" dirty="0"/>
              <a:t> </a:t>
            </a:r>
            <a:endParaRPr lang="es-CO" dirty="0"/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Presentación de </a:t>
            </a:r>
            <a:r>
              <a:rPr lang="es-ES" b="1" dirty="0">
                <a:solidFill>
                  <a:schemeClr val="bg1"/>
                </a:solidFill>
                <a:latin typeface="Arial "/>
              </a:rPr>
              <a:t>Hábitos de Estudio y Rendimiento Académico: Una Relación Indispensable</a:t>
            </a:r>
            <a:r>
              <a:rPr lang="es-ES" dirty="0">
                <a:solidFill>
                  <a:schemeClr val="bg1"/>
                </a:solidFill>
                <a:latin typeface="Arial "/>
              </a:rPr>
              <a:t>. </a:t>
            </a:r>
            <a:endParaRPr lang="es-CO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r>
              <a:rPr lang="es-MX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UNIDAD (1)</a:t>
            </a:r>
            <a:endParaRPr lang="es-CO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r>
              <a:rPr lang="es-ES" sz="2000" b="1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Marco Julio Cañas Campillo</a:t>
            </a:r>
          </a:p>
          <a:p>
            <a:pPr algn="ctr"/>
            <a:r>
              <a:rPr lang="es-MX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MATRÍCULA</a:t>
            </a:r>
            <a:endParaRPr lang="es-CO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153042</a:t>
            </a:r>
            <a:endParaRPr lang="es-CO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Ignacio Delfino </a:t>
            </a:r>
            <a:r>
              <a:rPr lang="es-MX" b="1" dirty="0" err="1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Gamez</a:t>
            </a:r>
            <a:r>
              <a:rPr lang="es-MX" b="1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 Pérez</a:t>
            </a:r>
            <a:endParaRPr lang="es-CO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r>
              <a:rPr lang="es-MX" b="1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                                                           </a:t>
            </a:r>
            <a:r>
              <a:rPr lang="es-MX" dirty="0">
                <a:solidFill>
                  <a:schemeClr val="bg1"/>
                </a:solidFill>
                <a:latin typeface="Arial "/>
                <a:cs typeface="Arial" panose="020B0604020202020204" pitchFamily="34" charset="0"/>
              </a:rPr>
              <a:t>  Tutor</a:t>
            </a:r>
            <a:endParaRPr lang="es-CO" dirty="0">
              <a:solidFill>
                <a:schemeClr val="bg1"/>
              </a:solidFill>
              <a:latin typeface="Arial 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Fecha: 16/04/2026</a:t>
            </a:r>
            <a:endParaRPr lang="es-CO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4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0059C-C5D1-58C0-D451-25B35B28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BE0FE46-C88E-BB03-F4BA-0EA6CCD8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C0CD7B2-E4A3-1CB7-F487-AAAC7977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9299AB4-F3D4-5811-1371-7EE345594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4098" y="605989"/>
            <a:ext cx="10103803" cy="56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2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7429F-BD15-04C6-971D-BE5F3F865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A8B23A6-56E5-1EF7-02DF-DBEFB5EBA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78B8AE8-1F6F-3EEE-8DCE-F344427AACF4}"/>
              </a:ext>
            </a:extLst>
          </p:cNvPr>
          <p:cNvSpPr txBox="1"/>
          <p:nvPr/>
        </p:nvSpPr>
        <p:spPr>
          <a:xfrm>
            <a:off x="1727885" y="681037"/>
            <a:ext cx="8736227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600"/>
              </a:spcAft>
            </a:pPr>
            <a:r>
              <a:rPr lang="es-CO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1</a:t>
            </a:r>
          </a:p>
          <a:p>
            <a:endParaRPr lang="es-ES" b="1" dirty="0"/>
          </a:p>
          <a:p>
            <a:endParaRPr lang="es-ES" b="1" dirty="0"/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O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AE2F26-7260-D00B-F421-B2FC73FD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88" y="-953729"/>
            <a:ext cx="12444394" cy="859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6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B29E-B509-E317-E769-1ACA4AA4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439822-DBE3-81EE-25BA-91551CFE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A49907B-5042-25C0-DD56-2E58A75FB4DE}"/>
              </a:ext>
            </a:extLst>
          </p:cNvPr>
          <p:cNvSpPr txBox="1"/>
          <p:nvPr/>
        </p:nvSpPr>
        <p:spPr>
          <a:xfrm>
            <a:off x="1727886" y="1483531"/>
            <a:ext cx="87362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s-CO" b="1" dirty="0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Formación de Hábitos</a:t>
            </a:r>
          </a:p>
          <a:p>
            <a:pPr algn="ctr">
              <a:lnSpc>
                <a:spcPct val="200000"/>
              </a:lnSpc>
              <a:buNone/>
            </a:pPr>
            <a:endParaRPr lang="es-CO" sz="18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ES" dirty="0"/>
              <a:t>.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BC47DC-4EE9-05AE-6F06-92DF9CAD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B0D15C8-A659-5DCF-9A04-46EBED9E6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60826" cy="746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6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B570B-250F-9057-A18A-4981DE67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8985BED-F7CF-0673-BCE2-9E024E114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D99099C-D0F2-7A78-20C6-257AD3708F39}"/>
              </a:ext>
            </a:extLst>
          </p:cNvPr>
          <p:cNvSpPr txBox="1"/>
          <p:nvPr/>
        </p:nvSpPr>
        <p:spPr>
          <a:xfrm>
            <a:off x="1727885" y="681037"/>
            <a:ext cx="8736227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600"/>
              </a:spcAft>
            </a:pPr>
            <a:r>
              <a:rPr lang="es-CO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Vínculo Comprobado:</a:t>
            </a:r>
            <a:r>
              <a:rPr lang="es-ES" dirty="0"/>
              <a:t> Existe una relación directa y positiva entre los hábitos de estudio y el rendimiento académico en estudiantes de primaria.   </a:t>
            </a:r>
          </a:p>
          <a:p>
            <a:endParaRPr lang="es-ES" dirty="0"/>
          </a:p>
          <a:p>
            <a:r>
              <a:rPr lang="es-ES" b="1" dirty="0"/>
              <a:t>Rol Docente y Familiar:</a:t>
            </a:r>
            <a:r>
              <a:rPr lang="es-ES" dirty="0"/>
              <a:t> La formación de hábitos requiere un proceso sistémico y constante, donde el refuerzo positivo y la supervisión son herramientas eficaces.   </a:t>
            </a:r>
          </a:p>
          <a:p>
            <a:endParaRPr lang="es-ES" dirty="0"/>
          </a:p>
          <a:p>
            <a:r>
              <a:rPr lang="es-ES" b="1" dirty="0"/>
              <a:t>Transformación Educativa:</a:t>
            </a:r>
            <a:r>
              <a:rPr lang="es-ES" dirty="0"/>
              <a:t> El gran desafío actual es transformar la información en conocimiento personal mediante técnicas de estudio adecuadas para desenvolverse con eficacia en la vida. 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O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3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A76F-4B10-F02D-ABDC-0BE9DA2F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B0B94-8C3E-0794-0891-9C589795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41D785D-E7CC-2CF0-54B2-112077FB5F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81216"/>
          <a:ext cx="10515600" cy="124015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308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b="1" i="0">
                          <a:effectLst/>
                          <a:latin typeface="Segoe UI" panose="020B0502040204020203" pitchFamily="34" charset="0"/>
                        </a:rPr>
                        <a:t>Importancia de los Valores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Orientan la conducta académica y profesional.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Fortalecen la formación personal del estudiante.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Promueven un actuar ético y socialmente responsable.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713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21558455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9F6A99F4-46E0-8075-280A-4053CE166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87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42D096E-3DE3-C4EE-9C82-213A43189DCC}"/>
              </a:ext>
            </a:extLst>
          </p:cNvPr>
          <p:cNvSpPr txBox="1"/>
          <p:nvPr/>
        </p:nvSpPr>
        <p:spPr>
          <a:xfrm>
            <a:off x="2153265" y="1748727"/>
            <a:ext cx="70300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effectLst/>
                <a:latin typeface="Google Sans Text"/>
              </a:rPr>
              <a:t>Referencias</a:t>
            </a:r>
            <a:endParaRPr lang="es-ES" b="1" dirty="0">
              <a:effectLst/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effectLst/>
                <a:latin typeface="Google Sans Text"/>
              </a:rPr>
              <a:t>Fuente Principal:</a:t>
            </a:r>
            <a:r>
              <a:rPr lang="es-ES" dirty="0">
                <a:effectLst/>
                <a:latin typeface="Google Sans Text"/>
              </a:rPr>
              <a:t> García </a:t>
            </a:r>
            <a:r>
              <a:rPr lang="es-ES" dirty="0" err="1">
                <a:effectLst/>
                <a:latin typeface="Google Sans Text"/>
              </a:rPr>
              <a:t>García</a:t>
            </a:r>
            <a:r>
              <a:rPr lang="es-ES" dirty="0">
                <a:effectLst/>
                <a:latin typeface="Google Sans Text"/>
              </a:rPr>
              <a:t>, Z. (2019). Hábitos de estudio y rendimiento académico. </a:t>
            </a:r>
            <a:r>
              <a:rPr lang="es-ES" i="1" dirty="0">
                <a:effectLst/>
                <a:latin typeface="Google Sans Text"/>
              </a:rPr>
              <a:t>Revista Boletín </a:t>
            </a:r>
            <a:r>
              <a:rPr lang="es-ES" i="1" dirty="0" err="1">
                <a:effectLst/>
                <a:latin typeface="Google Sans Text"/>
              </a:rPr>
              <a:t>Redipe</a:t>
            </a:r>
            <a:r>
              <a:rPr lang="es-ES" dirty="0">
                <a:effectLst/>
                <a:latin typeface="Google Sans Text"/>
              </a:rPr>
              <a:t>, 8(10), 75-88. </a:t>
            </a:r>
            <a:r>
              <a:rPr lang="es-ES" dirty="0">
                <a:effectLst/>
                <a:latin typeface="Google Sans Text"/>
                <a:hlinkClick r:id="rId3"/>
              </a:rPr>
              <a:t>https://doi.org/10.36260/rbr.v8i10.829</a:t>
            </a:r>
            <a:r>
              <a:rPr lang="es-ES" dirty="0">
                <a:effectLst/>
                <a:latin typeface="Google Sans Text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effectLst/>
                <a:latin typeface="Google Sans Text"/>
              </a:rPr>
              <a:t>Otras Fuentes Citadas en el Estudio:</a:t>
            </a:r>
            <a:endParaRPr lang="es-ES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Google Sans Text"/>
              </a:rPr>
              <a:t>Jiménez, M. (2000). Competencia social: intervención preventiva en la escuela.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Google Sans Text"/>
              </a:rPr>
              <a:t>Saiz, Á. (2017). Cómo inculcar hábitos de estudio en los niños.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Google Sans Text"/>
              </a:rPr>
              <a:t>Valverde Gea, M. Á. (2012). Importancia de los hábitos de estudio para el éxito escolar.</a:t>
            </a:r>
          </a:p>
        </p:txBody>
      </p:sp>
    </p:spTree>
    <p:extLst>
      <p:ext uri="{BB962C8B-B14F-4D97-AF65-F5344CB8AC3E}">
        <p14:creationId xmlns:p14="http://schemas.microsoft.com/office/powerpoint/2010/main" val="341089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9534-F57F-F6E7-30D7-F57B69B8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7157A-03F9-7789-E9AF-325A51A6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3FE47-9A87-3E8B-0C18-6A1612615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040112-4EF5-0760-52F7-6B1B78A1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6788"/>
            <a:ext cx="12257400" cy="68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43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249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Arial </vt:lpstr>
      <vt:lpstr>Google Sans</vt:lpstr>
      <vt:lpstr>Google Sans Text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DE JESUS ZAMARRIPA DE LUNA</dc:creator>
  <cp:lastModifiedBy>MARCO JULIO CANAS CAMPILLO</cp:lastModifiedBy>
  <cp:revision>11</cp:revision>
  <dcterms:created xsi:type="dcterms:W3CDTF">2025-08-28T18:52:00Z</dcterms:created>
  <dcterms:modified xsi:type="dcterms:W3CDTF">2026-04-29T23:50:02Z</dcterms:modified>
</cp:coreProperties>
</file>