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4" r:id="rId7"/>
    <p:sldId id="265" r:id="rId8"/>
    <p:sldId id="263" r:id="rId9"/>
    <p:sldId id="259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89CF4B-FB33-441E-8B03-68B4D097E02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BD8BAE-A6EC-4962-ADC6-8B1A62EADE75}">
      <dgm:prSet/>
      <dgm:spPr/>
      <dgm:t>
        <a:bodyPr/>
        <a:lstStyle/>
        <a:p>
          <a:r>
            <a:rPr lang="es-ES"/>
            <a:t>Importancia de los Valores</a:t>
          </a:r>
          <a:endParaRPr lang="en-US"/>
        </a:p>
      </dgm:t>
    </dgm:pt>
    <dgm:pt modelId="{2CF24CF2-A4CF-42D9-B72B-1459D077CB3C}" type="parTrans" cxnId="{CDAC9886-EC52-4A1D-8973-94A806B3DDD3}">
      <dgm:prSet/>
      <dgm:spPr/>
      <dgm:t>
        <a:bodyPr/>
        <a:lstStyle/>
        <a:p>
          <a:endParaRPr lang="en-US"/>
        </a:p>
      </dgm:t>
    </dgm:pt>
    <dgm:pt modelId="{01F6C0EB-E0D4-435E-BCA9-EF65FCA04053}" type="sibTrans" cxnId="{CDAC9886-EC52-4A1D-8973-94A806B3DDD3}">
      <dgm:prSet/>
      <dgm:spPr/>
      <dgm:t>
        <a:bodyPr/>
        <a:lstStyle/>
        <a:p>
          <a:endParaRPr lang="en-US"/>
        </a:p>
      </dgm:t>
    </dgm:pt>
    <dgm:pt modelId="{C877208A-E9D0-4B4C-BDE4-7B4A5A836622}">
      <dgm:prSet/>
      <dgm:spPr/>
      <dgm:t>
        <a:bodyPr/>
        <a:lstStyle/>
        <a:p>
          <a:r>
            <a:rPr lang="es-ES"/>
            <a:t>Orientan la conducta académica y profesional.</a:t>
          </a:r>
          <a:endParaRPr lang="en-US"/>
        </a:p>
      </dgm:t>
    </dgm:pt>
    <dgm:pt modelId="{A30C674D-49FA-43E2-8643-AF283586A424}" type="parTrans" cxnId="{16C4C394-C3F0-4849-B60D-809FB67FB83E}">
      <dgm:prSet/>
      <dgm:spPr/>
      <dgm:t>
        <a:bodyPr/>
        <a:lstStyle/>
        <a:p>
          <a:endParaRPr lang="en-US"/>
        </a:p>
      </dgm:t>
    </dgm:pt>
    <dgm:pt modelId="{4CA26472-27C2-439F-A372-B0E415CCD2FF}" type="sibTrans" cxnId="{16C4C394-C3F0-4849-B60D-809FB67FB83E}">
      <dgm:prSet/>
      <dgm:spPr/>
      <dgm:t>
        <a:bodyPr/>
        <a:lstStyle/>
        <a:p>
          <a:endParaRPr lang="en-US"/>
        </a:p>
      </dgm:t>
    </dgm:pt>
    <dgm:pt modelId="{1B823636-8D8C-4D09-A77B-442A614841C8}">
      <dgm:prSet/>
      <dgm:spPr/>
      <dgm:t>
        <a:bodyPr/>
        <a:lstStyle/>
        <a:p>
          <a:r>
            <a:rPr lang="es-ES"/>
            <a:t>Fortalecen la formación personal del estudiante.</a:t>
          </a:r>
          <a:endParaRPr lang="en-US"/>
        </a:p>
      </dgm:t>
    </dgm:pt>
    <dgm:pt modelId="{151AD7C5-CF72-4051-8864-96F8F574698D}" type="parTrans" cxnId="{2F61A840-991D-457B-9669-84D06C259F13}">
      <dgm:prSet/>
      <dgm:spPr/>
      <dgm:t>
        <a:bodyPr/>
        <a:lstStyle/>
        <a:p>
          <a:endParaRPr lang="en-US"/>
        </a:p>
      </dgm:t>
    </dgm:pt>
    <dgm:pt modelId="{4E5A8386-8BDA-48CB-BA44-B16EA10402D2}" type="sibTrans" cxnId="{2F61A840-991D-457B-9669-84D06C259F13}">
      <dgm:prSet/>
      <dgm:spPr/>
      <dgm:t>
        <a:bodyPr/>
        <a:lstStyle/>
        <a:p>
          <a:endParaRPr lang="en-US"/>
        </a:p>
      </dgm:t>
    </dgm:pt>
    <dgm:pt modelId="{03BAB842-E1A1-4A05-B1AC-0D2DE68D24D2}">
      <dgm:prSet/>
      <dgm:spPr/>
      <dgm:t>
        <a:bodyPr/>
        <a:lstStyle/>
        <a:p>
          <a:r>
            <a:rPr lang="es-ES"/>
            <a:t>Promueven un actuar ético y socialmente responsable.</a:t>
          </a:r>
          <a:endParaRPr lang="en-US"/>
        </a:p>
      </dgm:t>
    </dgm:pt>
    <dgm:pt modelId="{9B8C98E2-03AE-4A30-82C0-2D01C863A5B7}" type="parTrans" cxnId="{07E95228-12DB-455C-91AB-86138F700D17}">
      <dgm:prSet/>
      <dgm:spPr/>
      <dgm:t>
        <a:bodyPr/>
        <a:lstStyle/>
        <a:p>
          <a:endParaRPr lang="en-US"/>
        </a:p>
      </dgm:t>
    </dgm:pt>
    <dgm:pt modelId="{6F7AB3B3-E812-4AB9-B519-F47174C9C90D}" type="sibTrans" cxnId="{07E95228-12DB-455C-91AB-86138F700D17}">
      <dgm:prSet/>
      <dgm:spPr/>
      <dgm:t>
        <a:bodyPr/>
        <a:lstStyle/>
        <a:p>
          <a:endParaRPr lang="en-US"/>
        </a:p>
      </dgm:t>
    </dgm:pt>
    <dgm:pt modelId="{46784388-7A0E-43B1-B01C-F115C6CD2C59}" type="pres">
      <dgm:prSet presAssocID="{F589CF4B-FB33-441E-8B03-68B4D097E02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B56820-74EC-46E5-934D-818EB8F63CA3}" type="pres">
      <dgm:prSet presAssocID="{D9BD8BAE-A6EC-4962-ADC6-8B1A62EADE75}" presName="hierRoot1" presStyleCnt="0"/>
      <dgm:spPr/>
    </dgm:pt>
    <dgm:pt modelId="{23BBE775-7EFE-4F02-8509-0B152FD84498}" type="pres">
      <dgm:prSet presAssocID="{D9BD8BAE-A6EC-4962-ADC6-8B1A62EADE75}" presName="composite" presStyleCnt="0"/>
      <dgm:spPr/>
    </dgm:pt>
    <dgm:pt modelId="{144BA431-4760-45EF-A4C5-7F9EDCDD907A}" type="pres">
      <dgm:prSet presAssocID="{D9BD8BAE-A6EC-4962-ADC6-8B1A62EADE75}" presName="background" presStyleLbl="node0" presStyleIdx="0" presStyleCnt="1"/>
      <dgm:spPr/>
    </dgm:pt>
    <dgm:pt modelId="{4048B954-2479-4E4D-B112-51B604E341DC}" type="pres">
      <dgm:prSet presAssocID="{D9BD8BAE-A6EC-4962-ADC6-8B1A62EADE75}" presName="text" presStyleLbl="fgAcc0" presStyleIdx="0" presStyleCnt="1">
        <dgm:presLayoutVars>
          <dgm:chPref val="3"/>
        </dgm:presLayoutVars>
      </dgm:prSet>
      <dgm:spPr/>
    </dgm:pt>
    <dgm:pt modelId="{0ADBB996-B708-4397-877A-ADFDDDCE464A}" type="pres">
      <dgm:prSet presAssocID="{D9BD8BAE-A6EC-4962-ADC6-8B1A62EADE75}" presName="hierChild2" presStyleCnt="0"/>
      <dgm:spPr/>
    </dgm:pt>
    <dgm:pt modelId="{7CFAEA74-9453-489B-9B25-B1B1A6F23AAB}" type="pres">
      <dgm:prSet presAssocID="{A30C674D-49FA-43E2-8643-AF283586A424}" presName="Name10" presStyleLbl="parChTrans1D2" presStyleIdx="0" presStyleCnt="3"/>
      <dgm:spPr/>
    </dgm:pt>
    <dgm:pt modelId="{D4808ADB-5BDA-4B07-9477-7F9496A7F9CF}" type="pres">
      <dgm:prSet presAssocID="{C877208A-E9D0-4B4C-BDE4-7B4A5A836622}" presName="hierRoot2" presStyleCnt="0"/>
      <dgm:spPr/>
    </dgm:pt>
    <dgm:pt modelId="{15514681-DBD2-4290-A819-495A6B5B6771}" type="pres">
      <dgm:prSet presAssocID="{C877208A-E9D0-4B4C-BDE4-7B4A5A836622}" presName="composite2" presStyleCnt="0"/>
      <dgm:spPr/>
    </dgm:pt>
    <dgm:pt modelId="{573C1601-0EBD-4DCC-A13C-065057DEB0AF}" type="pres">
      <dgm:prSet presAssocID="{C877208A-E9D0-4B4C-BDE4-7B4A5A836622}" presName="background2" presStyleLbl="node2" presStyleIdx="0" presStyleCnt="3"/>
      <dgm:spPr/>
    </dgm:pt>
    <dgm:pt modelId="{8354CB24-BF06-4206-8169-1433D11F4A9D}" type="pres">
      <dgm:prSet presAssocID="{C877208A-E9D0-4B4C-BDE4-7B4A5A836622}" presName="text2" presStyleLbl="fgAcc2" presStyleIdx="0" presStyleCnt="3">
        <dgm:presLayoutVars>
          <dgm:chPref val="3"/>
        </dgm:presLayoutVars>
      </dgm:prSet>
      <dgm:spPr/>
    </dgm:pt>
    <dgm:pt modelId="{479EF55A-18F0-4405-B229-088BCAF29CF8}" type="pres">
      <dgm:prSet presAssocID="{C877208A-E9D0-4B4C-BDE4-7B4A5A836622}" presName="hierChild3" presStyleCnt="0"/>
      <dgm:spPr/>
    </dgm:pt>
    <dgm:pt modelId="{BFA6EA0B-0308-4EB5-A2D7-6C745750CE47}" type="pres">
      <dgm:prSet presAssocID="{151AD7C5-CF72-4051-8864-96F8F574698D}" presName="Name10" presStyleLbl="parChTrans1D2" presStyleIdx="1" presStyleCnt="3"/>
      <dgm:spPr/>
    </dgm:pt>
    <dgm:pt modelId="{3CFCC14E-5DE8-42E1-A361-300FE4288D1D}" type="pres">
      <dgm:prSet presAssocID="{1B823636-8D8C-4D09-A77B-442A614841C8}" presName="hierRoot2" presStyleCnt="0"/>
      <dgm:spPr/>
    </dgm:pt>
    <dgm:pt modelId="{9AE32770-8C98-4B16-B7B6-BD1455AE0B87}" type="pres">
      <dgm:prSet presAssocID="{1B823636-8D8C-4D09-A77B-442A614841C8}" presName="composite2" presStyleCnt="0"/>
      <dgm:spPr/>
    </dgm:pt>
    <dgm:pt modelId="{8839372C-192D-4D7B-AE01-0BC1CF67FD78}" type="pres">
      <dgm:prSet presAssocID="{1B823636-8D8C-4D09-A77B-442A614841C8}" presName="background2" presStyleLbl="node2" presStyleIdx="1" presStyleCnt="3"/>
      <dgm:spPr/>
    </dgm:pt>
    <dgm:pt modelId="{8E94571E-59B8-486B-944D-DACA25EA96C5}" type="pres">
      <dgm:prSet presAssocID="{1B823636-8D8C-4D09-A77B-442A614841C8}" presName="text2" presStyleLbl="fgAcc2" presStyleIdx="1" presStyleCnt="3">
        <dgm:presLayoutVars>
          <dgm:chPref val="3"/>
        </dgm:presLayoutVars>
      </dgm:prSet>
      <dgm:spPr/>
    </dgm:pt>
    <dgm:pt modelId="{BCB0F408-607A-4595-B6EC-2CDCCC9857C4}" type="pres">
      <dgm:prSet presAssocID="{1B823636-8D8C-4D09-A77B-442A614841C8}" presName="hierChild3" presStyleCnt="0"/>
      <dgm:spPr/>
    </dgm:pt>
    <dgm:pt modelId="{D8A1C1A2-0917-4205-8D68-9CE3F0F66DB6}" type="pres">
      <dgm:prSet presAssocID="{9B8C98E2-03AE-4A30-82C0-2D01C863A5B7}" presName="Name10" presStyleLbl="parChTrans1D2" presStyleIdx="2" presStyleCnt="3"/>
      <dgm:spPr/>
    </dgm:pt>
    <dgm:pt modelId="{A8BC8106-08DF-4F9C-84BA-ECDBA436DB99}" type="pres">
      <dgm:prSet presAssocID="{03BAB842-E1A1-4A05-B1AC-0D2DE68D24D2}" presName="hierRoot2" presStyleCnt="0"/>
      <dgm:spPr/>
    </dgm:pt>
    <dgm:pt modelId="{D5E31A41-86A8-4730-AAF3-625C6F869701}" type="pres">
      <dgm:prSet presAssocID="{03BAB842-E1A1-4A05-B1AC-0D2DE68D24D2}" presName="composite2" presStyleCnt="0"/>
      <dgm:spPr/>
    </dgm:pt>
    <dgm:pt modelId="{1C0E8EE5-538D-4578-B661-F501BCFC18F3}" type="pres">
      <dgm:prSet presAssocID="{03BAB842-E1A1-4A05-B1AC-0D2DE68D24D2}" presName="background2" presStyleLbl="node2" presStyleIdx="2" presStyleCnt="3"/>
      <dgm:spPr/>
    </dgm:pt>
    <dgm:pt modelId="{8502062C-8B2A-4C27-8498-ADE10BA82BDE}" type="pres">
      <dgm:prSet presAssocID="{03BAB842-E1A1-4A05-B1AC-0D2DE68D24D2}" presName="text2" presStyleLbl="fgAcc2" presStyleIdx="2" presStyleCnt="3">
        <dgm:presLayoutVars>
          <dgm:chPref val="3"/>
        </dgm:presLayoutVars>
      </dgm:prSet>
      <dgm:spPr/>
    </dgm:pt>
    <dgm:pt modelId="{D7BD3B9C-841C-44B4-9483-FB94678D6C44}" type="pres">
      <dgm:prSet presAssocID="{03BAB842-E1A1-4A05-B1AC-0D2DE68D24D2}" presName="hierChild3" presStyleCnt="0"/>
      <dgm:spPr/>
    </dgm:pt>
  </dgm:ptLst>
  <dgm:cxnLst>
    <dgm:cxn modelId="{3DC72004-296F-4E0A-BC4B-ABCFC1DFCA90}" type="presOf" srcId="{F589CF4B-FB33-441E-8B03-68B4D097E02D}" destId="{46784388-7A0E-43B1-B01C-F115C6CD2C59}" srcOrd="0" destOrd="0" presId="urn:microsoft.com/office/officeart/2005/8/layout/hierarchy1"/>
    <dgm:cxn modelId="{E4CADC1C-4932-427B-B16F-19676B649D5C}" type="presOf" srcId="{03BAB842-E1A1-4A05-B1AC-0D2DE68D24D2}" destId="{8502062C-8B2A-4C27-8498-ADE10BA82BDE}" srcOrd="0" destOrd="0" presId="urn:microsoft.com/office/officeart/2005/8/layout/hierarchy1"/>
    <dgm:cxn modelId="{07E95228-12DB-455C-91AB-86138F700D17}" srcId="{D9BD8BAE-A6EC-4962-ADC6-8B1A62EADE75}" destId="{03BAB842-E1A1-4A05-B1AC-0D2DE68D24D2}" srcOrd="2" destOrd="0" parTransId="{9B8C98E2-03AE-4A30-82C0-2D01C863A5B7}" sibTransId="{6F7AB3B3-E812-4AB9-B519-F47174C9C90D}"/>
    <dgm:cxn modelId="{2F61A840-991D-457B-9669-84D06C259F13}" srcId="{D9BD8BAE-A6EC-4962-ADC6-8B1A62EADE75}" destId="{1B823636-8D8C-4D09-A77B-442A614841C8}" srcOrd="1" destOrd="0" parTransId="{151AD7C5-CF72-4051-8864-96F8F574698D}" sibTransId="{4E5A8386-8BDA-48CB-BA44-B16EA10402D2}"/>
    <dgm:cxn modelId="{16BAE462-75B9-4C50-AFA8-25E3499957D3}" type="presOf" srcId="{D9BD8BAE-A6EC-4962-ADC6-8B1A62EADE75}" destId="{4048B954-2479-4E4D-B112-51B604E341DC}" srcOrd="0" destOrd="0" presId="urn:microsoft.com/office/officeart/2005/8/layout/hierarchy1"/>
    <dgm:cxn modelId="{29AE4467-9AF3-4C9B-858C-95C0D39627DF}" type="presOf" srcId="{151AD7C5-CF72-4051-8864-96F8F574698D}" destId="{BFA6EA0B-0308-4EB5-A2D7-6C745750CE47}" srcOrd="0" destOrd="0" presId="urn:microsoft.com/office/officeart/2005/8/layout/hierarchy1"/>
    <dgm:cxn modelId="{FB80C768-E8A9-4F25-A163-73A05DF60222}" type="presOf" srcId="{A30C674D-49FA-43E2-8643-AF283586A424}" destId="{7CFAEA74-9453-489B-9B25-B1B1A6F23AAB}" srcOrd="0" destOrd="0" presId="urn:microsoft.com/office/officeart/2005/8/layout/hierarchy1"/>
    <dgm:cxn modelId="{257F6572-C1C6-44B4-8982-1CD065670A9E}" type="presOf" srcId="{C877208A-E9D0-4B4C-BDE4-7B4A5A836622}" destId="{8354CB24-BF06-4206-8169-1433D11F4A9D}" srcOrd="0" destOrd="0" presId="urn:microsoft.com/office/officeart/2005/8/layout/hierarchy1"/>
    <dgm:cxn modelId="{CDAC9886-EC52-4A1D-8973-94A806B3DDD3}" srcId="{F589CF4B-FB33-441E-8B03-68B4D097E02D}" destId="{D9BD8BAE-A6EC-4962-ADC6-8B1A62EADE75}" srcOrd="0" destOrd="0" parTransId="{2CF24CF2-A4CF-42D9-B72B-1459D077CB3C}" sibTransId="{01F6C0EB-E0D4-435E-BCA9-EF65FCA04053}"/>
    <dgm:cxn modelId="{16C4C394-C3F0-4849-B60D-809FB67FB83E}" srcId="{D9BD8BAE-A6EC-4962-ADC6-8B1A62EADE75}" destId="{C877208A-E9D0-4B4C-BDE4-7B4A5A836622}" srcOrd="0" destOrd="0" parTransId="{A30C674D-49FA-43E2-8643-AF283586A424}" sibTransId="{4CA26472-27C2-439F-A372-B0E415CCD2FF}"/>
    <dgm:cxn modelId="{02A0E3A6-67BE-433F-9C23-88BAE4F334B2}" type="presOf" srcId="{1B823636-8D8C-4D09-A77B-442A614841C8}" destId="{8E94571E-59B8-486B-944D-DACA25EA96C5}" srcOrd="0" destOrd="0" presId="urn:microsoft.com/office/officeart/2005/8/layout/hierarchy1"/>
    <dgm:cxn modelId="{9255B8AC-943A-4B43-A3EC-B0DDE350A34C}" type="presOf" srcId="{9B8C98E2-03AE-4A30-82C0-2D01C863A5B7}" destId="{D8A1C1A2-0917-4205-8D68-9CE3F0F66DB6}" srcOrd="0" destOrd="0" presId="urn:microsoft.com/office/officeart/2005/8/layout/hierarchy1"/>
    <dgm:cxn modelId="{8082CE8D-AC98-497E-984B-F950DFEC4533}" type="presParOf" srcId="{46784388-7A0E-43B1-B01C-F115C6CD2C59}" destId="{33B56820-74EC-46E5-934D-818EB8F63CA3}" srcOrd="0" destOrd="0" presId="urn:microsoft.com/office/officeart/2005/8/layout/hierarchy1"/>
    <dgm:cxn modelId="{0E185381-AA65-4FAF-BD4E-DD32286523B0}" type="presParOf" srcId="{33B56820-74EC-46E5-934D-818EB8F63CA3}" destId="{23BBE775-7EFE-4F02-8509-0B152FD84498}" srcOrd="0" destOrd="0" presId="urn:microsoft.com/office/officeart/2005/8/layout/hierarchy1"/>
    <dgm:cxn modelId="{76637855-481E-439D-BDF2-7F9F11FC867F}" type="presParOf" srcId="{23BBE775-7EFE-4F02-8509-0B152FD84498}" destId="{144BA431-4760-45EF-A4C5-7F9EDCDD907A}" srcOrd="0" destOrd="0" presId="urn:microsoft.com/office/officeart/2005/8/layout/hierarchy1"/>
    <dgm:cxn modelId="{3D3C4FC1-39BA-47B9-A817-B97FD12733FC}" type="presParOf" srcId="{23BBE775-7EFE-4F02-8509-0B152FD84498}" destId="{4048B954-2479-4E4D-B112-51B604E341DC}" srcOrd="1" destOrd="0" presId="urn:microsoft.com/office/officeart/2005/8/layout/hierarchy1"/>
    <dgm:cxn modelId="{51E57C5A-5EC4-4116-9378-CA7C9B2AD3FF}" type="presParOf" srcId="{33B56820-74EC-46E5-934D-818EB8F63CA3}" destId="{0ADBB996-B708-4397-877A-ADFDDDCE464A}" srcOrd="1" destOrd="0" presId="urn:microsoft.com/office/officeart/2005/8/layout/hierarchy1"/>
    <dgm:cxn modelId="{3DC59599-4832-4DF1-B1FD-426F1E4579D0}" type="presParOf" srcId="{0ADBB996-B708-4397-877A-ADFDDDCE464A}" destId="{7CFAEA74-9453-489B-9B25-B1B1A6F23AAB}" srcOrd="0" destOrd="0" presId="urn:microsoft.com/office/officeart/2005/8/layout/hierarchy1"/>
    <dgm:cxn modelId="{256EC2B0-3404-46E1-9ED1-B429574A5E23}" type="presParOf" srcId="{0ADBB996-B708-4397-877A-ADFDDDCE464A}" destId="{D4808ADB-5BDA-4B07-9477-7F9496A7F9CF}" srcOrd="1" destOrd="0" presId="urn:microsoft.com/office/officeart/2005/8/layout/hierarchy1"/>
    <dgm:cxn modelId="{484A4716-4E53-449D-B5AC-94661D487E5D}" type="presParOf" srcId="{D4808ADB-5BDA-4B07-9477-7F9496A7F9CF}" destId="{15514681-DBD2-4290-A819-495A6B5B6771}" srcOrd="0" destOrd="0" presId="urn:microsoft.com/office/officeart/2005/8/layout/hierarchy1"/>
    <dgm:cxn modelId="{A5F28E7E-4AA4-410E-8AA3-85CC08EFC10B}" type="presParOf" srcId="{15514681-DBD2-4290-A819-495A6B5B6771}" destId="{573C1601-0EBD-4DCC-A13C-065057DEB0AF}" srcOrd="0" destOrd="0" presId="urn:microsoft.com/office/officeart/2005/8/layout/hierarchy1"/>
    <dgm:cxn modelId="{609B6F07-C649-477B-96F9-F9DCA746EC7D}" type="presParOf" srcId="{15514681-DBD2-4290-A819-495A6B5B6771}" destId="{8354CB24-BF06-4206-8169-1433D11F4A9D}" srcOrd="1" destOrd="0" presId="urn:microsoft.com/office/officeart/2005/8/layout/hierarchy1"/>
    <dgm:cxn modelId="{BAF9440F-4C54-4B4E-BB5B-A84858286677}" type="presParOf" srcId="{D4808ADB-5BDA-4B07-9477-7F9496A7F9CF}" destId="{479EF55A-18F0-4405-B229-088BCAF29CF8}" srcOrd="1" destOrd="0" presId="urn:microsoft.com/office/officeart/2005/8/layout/hierarchy1"/>
    <dgm:cxn modelId="{0517A8BB-0548-41D6-9F0E-6ED519BE59AE}" type="presParOf" srcId="{0ADBB996-B708-4397-877A-ADFDDDCE464A}" destId="{BFA6EA0B-0308-4EB5-A2D7-6C745750CE47}" srcOrd="2" destOrd="0" presId="urn:microsoft.com/office/officeart/2005/8/layout/hierarchy1"/>
    <dgm:cxn modelId="{E149BA7A-B82C-483A-A34D-1FBCE1E2BBD7}" type="presParOf" srcId="{0ADBB996-B708-4397-877A-ADFDDDCE464A}" destId="{3CFCC14E-5DE8-42E1-A361-300FE4288D1D}" srcOrd="3" destOrd="0" presId="urn:microsoft.com/office/officeart/2005/8/layout/hierarchy1"/>
    <dgm:cxn modelId="{E6ACC8BE-6659-4AD4-BAEB-536F7F99C3B0}" type="presParOf" srcId="{3CFCC14E-5DE8-42E1-A361-300FE4288D1D}" destId="{9AE32770-8C98-4B16-B7B6-BD1455AE0B87}" srcOrd="0" destOrd="0" presId="urn:microsoft.com/office/officeart/2005/8/layout/hierarchy1"/>
    <dgm:cxn modelId="{0B0E29D7-B369-43FE-9765-C84A4BFB8732}" type="presParOf" srcId="{9AE32770-8C98-4B16-B7B6-BD1455AE0B87}" destId="{8839372C-192D-4D7B-AE01-0BC1CF67FD78}" srcOrd="0" destOrd="0" presId="urn:microsoft.com/office/officeart/2005/8/layout/hierarchy1"/>
    <dgm:cxn modelId="{152F97B2-38A0-41A1-A1E1-92A030408D88}" type="presParOf" srcId="{9AE32770-8C98-4B16-B7B6-BD1455AE0B87}" destId="{8E94571E-59B8-486B-944D-DACA25EA96C5}" srcOrd="1" destOrd="0" presId="urn:microsoft.com/office/officeart/2005/8/layout/hierarchy1"/>
    <dgm:cxn modelId="{17D7BB0D-6A68-4422-B899-6406DDDC7D60}" type="presParOf" srcId="{3CFCC14E-5DE8-42E1-A361-300FE4288D1D}" destId="{BCB0F408-607A-4595-B6EC-2CDCCC9857C4}" srcOrd="1" destOrd="0" presId="urn:microsoft.com/office/officeart/2005/8/layout/hierarchy1"/>
    <dgm:cxn modelId="{920B1240-8841-4896-B677-40B8D7DAAD0F}" type="presParOf" srcId="{0ADBB996-B708-4397-877A-ADFDDDCE464A}" destId="{D8A1C1A2-0917-4205-8D68-9CE3F0F66DB6}" srcOrd="4" destOrd="0" presId="urn:microsoft.com/office/officeart/2005/8/layout/hierarchy1"/>
    <dgm:cxn modelId="{9330447A-A881-4CF2-AC61-44D8F1D6E55D}" type="presParOf" srcId="{0ADBB996-B708-4397-877A-ADFDDDCE464A}" destId="{A8BC8106-08DF-4F9C-84BA-ECDBA436DB99}" srcOrd="5" destOrd="0" presId="urn:microsoft.com/office/officeart/2005/8/layout/hierarchy1"/>
    <dgm:cxn modelId="{3FB03530-9F7A-438C-936B-96350D4EDD1F}" type="presParOf" srcId="{A8BC8106-08DF-4F9C-84BA-ECDBA436DB99}" destId="{D5E31A41-86A8-4730-AAF3-625C6F869701}" srcOrd="0" destOrd="0" presId="urn:microsoft.com/office/officeart/2005/8/layout/hierarchy1"/>
    <dgm:cxn modelId="{8C993F4B-1C8C-47F5-BAA2-9A6DA040D507}" type="presParOf" srcId="{D5E31A41-86A8-4730-AAF3-625C6F869701}" destId="{1C0E8EE5-538D-4578-B661-F501BCFC18F3}" srcOrd="0" destOrd="0" presId="urn:microsoft.com/office/officeart/2005/8/layout/hierarchy1"/>
    <dgm:cxn modelId="{5FD0BA8C-5DBC-4B0A-9F92-D319F30521B8}" type="presParOf" srcId="{D5E31A41-86A8-4730-AAF3-625C6F869701}" destId="{8502062C-8B2A-4C27-8498-ADE10BA82BDE}" srcOrd="1" destOrd="0" presId="urn:microsoft.com/office/officeart/2005/8/layout/hierarchy1"/>
    <dgm:cxn modelId="{2FD85AF9-573B-451D-A6BD-1F97BB24A1F7}" type="presParOf" srcId="{A8BC8106-08DF-4F9C-84BA-ECDBA436DB99}" destId="{D7BD3B9C-841C-44B4-9483-FB94678D6C4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1C1A2-0917-4205-8D68-9CE3F0F66DB6}">
      <dsp:nvSpPr>
        <dsp:cNvPr id="0" name=""/>
        <dsp:cNvSpPr/>
      </dsp:nvSpPr>
      <dsp:spPr>
        <a:xfrm>
          <a:off x="4244979" y="1196507"/>
          <a:ext cx="2301156" cy="5475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53"/>
              </a:lnTo>
              <a:lnTo>
                <a:pt x="2301156" y="373153"/>
              </a:lnTo>
              <a:lnTo>
                <a:pt x="2301156" y="5475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A6EA0B-0308-4EB5-A2D7-6C745750CE47}">
      <dsp:nvSpPr>
        <dsp:cNvPr id="0" name=""/>
        <dsp:cNvSpPr/>
      </dsp:nvSpPr>
      <dsp:spPr>
        <a:xfrm>
          <a:off x="4199259" y="1196507"/>
          <a:ext cx="91440" cy="5475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75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FAEA74-9453-489B-9B25-B1B1A6F23AAB}">
      <dsp:nvSpPr>
        <dsp:cNvPr id="0" name=""/>
        <dsp:cNvSpPr/>
      </dsp:nvSpPr>
      <dsp:spPr>
        <a:xfrm>
          <a:off x="1943823" y="1196507"/>
          <a:ext cx="2301156" cy="547570"/>
        </a:xfrm>
        <a:custGeom>
          <a:avLst/>
          <a:gdLst/>
          <a:ahLst/>
          <a:cxnLst/>
          <a:rect l="0" t="0" r="0" b="0"/>
          <a:pathLst>
            <a:path>
              <a:moveTo>
                <a:pt x="2301156" y="0"/>
              </a:moveTo>
              <a:lnTo>
                <a:pt x="2301156" y="373153"/>
              </a:lnTo>
              <a:lnTo>
                <a:pt x="0" y="373153"/>
              </a:lnTo>
              <a:lnTo>
                <a:pt x="0" y="5475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4BA431-4760-45EF-A4C5-7F9EDCDD907A}">
      <dsp:nvSpPr>
        <dsp:cNvPr id="0" name=""/>
        <dsp:cNvSpPr/>
      </dsp:nvSpPr>
      <dsp:spPr>
        <a:xfrm>
          <a:off x="3303597" y="951"/>
          <a:ext cx="1882764" cy="1195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8B954-2479-4E4D-B112-51B604E341DC}">
      <dsp:nvSpPr>
        <dsp:cNvPr id="0" name=""/>
        <dsp:cNvSpPr/>
      </dsp:nvSpPr>
      <dsp:spPr>
        <a:xfrm>
          <a:off x="3512793" y="199688"/>
          <a:ext cx="1882764" cy="11955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Importancia de los Valores</a:t>
          </a:r>
          <a:endParaRPr lang="en-US" sz="1700" kern="1200"/>
        </a:p>
      </dsp:txBody>
      <dsp:txXfrm>
        <a:off x="3547810" y="234705"/>
        <a:ext cx="1812730" cy="1125521"/>
      </dsp:txXfrm>
    </dsp:sp>
    <dsp:sp modelId="{573C1601-0EBD-4DCC-A13C-065057DEB0AF}">
      <dsp:nvSpPr>
        <dsp:cNvPr id="0" name=""/>
        <dsp:cNvSpPr/>
      </dsp:nvSpPr>
      <dsp:spPr>
        <a:xfrm>
          <a:off x="1002441" y="1744077"/>
          <a:ext cx="1882764" cy="1195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4CB24-BF06-4206-8169-1433D11F4A9D}">
      <dsp:nvSpPr>
        <dsp:cNvPr id="0" name=""/>
        <dsp:cNvSpPr/>
      </dsp:nvSpPr>
      <dsp:spPr>
        <a:xfrm>
          <a:off x="1211637" y="1942813"/>
          <a:ext cx="1882764" cy="11955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Orientan la conducta académica y profesional.</a:t>
          </a:r>
          <a:endParaRPr lang="en-US" sz="1700" kern="1200"/>
        </a:p>
      </dsp:txBody>
      <dsp:txXfrm>
        <a:off x="1246654" y="1977830"/>
        <a:ext cx="1812730" cy="1125521"/>
      </dsp:txXfrm>
    </dsp:sp>
    <dsp:sp modelId="{8839372C-192D-4D7B-AE01-0BC1CF67FD78}">
      <dsp:nvSpPr>
        <dsp:cNvPr id="0" name=""/>
        <dsp:cNvSpPr/>
      </dsp:nvSpPr>
      <dsp:spPr>
        <a:xfrm>
          <a:off x="3303597" y="1744077"/>
          <a:ext cx="1882764" cy="1195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4571E-59B8-486B-944D-DACA25EA96C5}">
      <dsp:nvSpPr>
        <dsp:cNvPr id="0" name=""/>
        <dsp:cNvSpPr/>
      </dsp:nvSpPr>
      <dsp:spPr>
        <a:xfrm>
          <a:off x="3512793" y="1942813"/>
          <a:ext cx="1882764" cy="11955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Fortalecen la formación personal del estudiante.</a:t>
          </a:r>
          <a:endParaRPr lang="en-US" sz="1700" kern="1200"/>
        </a:p>
      </dsp:txBody>
      <dsp:txXfrm>
        <a:off x="3547810" y="1977830"/>
        <a:ext cx="1812730" cy="1125521"/>
      </dsp:txXfrm>
    </dsp:sp>
    <dsp:sp modelId="{1C0E8EE5-538D-4578-B661-F501BCFC18F3}">
      <dsp:nvSpPr>
        <dsp:cNvPr id="0" name=""/>
        <dsp:cNvSpPr/>
      </dsp:nvSpPr>
      <dsp:spPr>
        <a:xfrm>
          <a:off x="5604754" y="1744077"/>
          <a:ext cx="1882764" cy="1195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2062C-8B2A-4C27-8498-ADE10BA82BDE}">
      <dsp:nvSpPr>
        <dsp:cNvPr id="0" name=""/>
        <dsp:cNvSpPr/>
      </dsp:nvSpPr>
      <dsp:spPr>
        <a:xfrm>
          <a:off x="5813950" y="1942813"/>
          <a:ext cx="1882764" cy="11955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Promueven un actuar ético y socialmente responsable.</a:t>
          </a:r>
          <a:endParaRPr lang="en-US" sz="1700" kern="1200"/>
        </a:p>
      </dsp:txBody>
      <dsp:txXfrm>
        <a:off x="5848967" y="1977830"/>
        <a:ext cx="1812730" cy="1125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A38D8-1266-7CF9-2D23-08615CBB6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A641BB-1720-F0C0-D65D-817969A7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FF3DBD-0CF3-4F91-106B-B6769574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B3870D-BD0F-56E3-6796-073ECFFB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3D632E-DED3-8653-CE70-160E32CA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625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8B1C-5CB8-03AB-B387-65D3F1B5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572484-AECA-B2DB-85F8-1357097F9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84DFF8-2C51-CA75-4350-56577BA4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1A17D-8F4B-6965-D583-7B35B40D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9DA737-FDDB-934F-D1C1-F854AC8A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502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FA664-E193-C7BD-9A9B-36C4AD43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5C9420-AFD0-C99E-BF76-976D6563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D547AC-08C6-B9A2-6501-B98C105B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4DD610-A8B9-BD92-E700-802DCC27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A4ADCF-D7D3-6429-B061-4FDB2DEB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15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04CE9-A91D-8E40-B71E-6D0932CC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2FD1EA-B814-0478-C31C-8EAC24589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2F563E-9F62-CF96-4B98-BB07C750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F49A08-CF52-500C-E698-C90CF143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F5A7E2-466C-1695-C7FC-DEFF36FA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DDA0D9-E594-83C9-6BE0-B71791B8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601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EF9FF-A1BB-D924-5518-57DDE42A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70AE0E-71F2-097F-BFFA-7E3F435C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DF4E7C-6D04-DF38-C9B6-0E5523EF4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8AD05B-D7A6-1ED9-2607-9ADD85971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97D7D4-2ECB-40B0-98FF-84807EB76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4CF7BB-3776-4712-7B3B-6564B8F0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47B214-DA8A-7B76-2CB4-03840126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5B529F-9F7B-A42E-24EC-C65F016F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421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3AA00-845F-AD76-E425-C971B655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5FD71F-DAD4-6244-70D5-9F00C8CB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611BE7-D733-A270-9225-743466C3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3E251C-085E-47AE-5DA1-B6EC52B8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839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6D99E5-DE0A-217C-D006-C187B2EF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81151E-57A2-64F6-1BF4-D7C8CD41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0C155B-AE61-31CC-2212-20C9388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545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9307D-3885-F053-4BCB-1BC7E83BD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C457A0-BFE8-DB8C-F6F1-25EC19F10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CFD805-6FF4-EF0E-C386-57E60E01D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BA1D85-6F0A-D85F-DA29-57342B00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ECA0D0-16F3-DB99-D877-20E5DFED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56746B-7CD0-0347-37E5-073EB6DD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709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11DFA-4D9F-FF22-8482-984F2547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ED29E0-CA3D-E312-E1C5-9AF2CA399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1F3AD8-8174-73BB-0451-33FC1C482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61D9FE-1B1C-2572-0D82-CDE90807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19134A-4388-F93E-AC96-0464E386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92CC50-720B-0E67-BFC1-4C8AE170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417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452C0-1D7E-767D-35D6-C366D724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EC6720-F73C-7311-3172-08039AE52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67233C-AE39-FC7B-EC03-FCA156BA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287B03-8537-2A88-D063-C5524C4A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3D0314-F5DC-6084-1E48-DE5EC668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718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0C50E3-A7EE-5FBC-0F13-6EA3A348E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51CBD8-D55C-DE11-6584-334BCFBB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934755-4206-DF42-E63F-7604A076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B9EF4C-C477-0684-6D60-F81234DE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C3370-8416-F9DB-8F02-54DC55FA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225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5E5C41-F706-611E-DCE3-A4FD204C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AE3902-AFB3-6845-B4B3-736CA791C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F38244-38D5-0B7D-0103-F2EE03088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33E74-88D5-BE49-874E-DE14DD0E078D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8E4257-D8AA-30D6-478F-396BEFA6F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12CB9-8CB5-95CA-A9B3-ED25A70B9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03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57812-8957-947F-22D6-9C74760E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E4A83F-ED06-3E53-DD9D-BF1FB9A5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91B33B-B012-B95A-4616-AAB654F3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0EA41A4-4ACF-8E5A-E8AD-BC1386E5D5AB}"/>
              </a:ext>
            </a:extLst>
          </p:cNvPr>
          <p:cNvSpPr txBox="1"/>
          <p:nvPr/>
        </p:nvSpPr>
        <p:spPr>
          <a:xfrm>
            <a:off x="2029597" y="681038"/>
            <a:ext cx="8152371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DCE CURSO DE INDUCCIÓN GW</a:t>
            </a:r>
            <a:endParaRPr lang="es-CO" dirty="0">
              <a:solidFill>
                <a:schemeClr val="bg1"/>
              </a:solidFill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</a:rPr>
              <a:t> </a:t>
            </a:r>
            <a:endParaRPr lang="es-CO" dirty="0">
              <a:solidFill>
                <a:schemeClr val="bg1"/>
              </a:solidFill>
            </a:endParaRPr>
          </a:p>
          <a:p>
            <a:pPr algn="ctr"/>
            <a:endParaRPr lang="es-CO" dirty="0">
              <a:solidFill>
                <a:schemeClr val="bg1"/>
              </a:solidFill>
            </a:endParaRPr>
          </a:p>
          <a:p>
            <a:r>
              <a:rPr lang="es-MX" dirty="0"/>
              <a:t> </a:t>
            </a:r>
            <a:endParaRPr lang="es-CO" dirty="0"/>
          </a:p>
          <a:p>
            <a:r>
              <a:rPr lang="es-MX" b="1" dirty="0"/>
              <a:t> </a:t>
            </a:r>
            <a:endParaRPr lang="es-CO" dirty="0"/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de visión, misión y de la Política de Calidad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(1)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Marco Julio Cañas Campillo</a:t>
            </a:r>
          </a:p>
          <a:p>
            <a:pPr algn="ctr"/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MATRÍCULA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153042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Ignacio Delfino </a:t>
            </a:r>
            <a:r>
              <a:rPr lang="es-MX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Gamez</a:t>
            </a:r>
            <a:r>
              <a:rPr lang="es-MX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Pérez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</a:t>
            </a: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Tutor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Fecha: 16/04/2026</a:t>
            </a:r>
            <a:endParaRPr lang="es-CO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64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0059C-C5D1-58C0-D451-25B35B28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CD7B2-E4A3-1CB7-F487-AAAC7977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4AC6F5-E31E-BBC3-D61A-00C9C164E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E0FE46-C88E-BB03-F4BA-0EA6CCD8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41ACE0E-6E4B-D7CD-4F40-349D4A3DB4EC}"/>
              </a:ext>
            </a:extLst>
          </p:cNvPr>
          <p:cNvSpPr txBox="1"/>
          <p:nvPr/>
        </p:nvSpPr>
        <p:spPr>
          <a:xfrm>
            <a:off x="1937950" y="1191827"/>
            <a:ext cx="8983363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algn="ctr">
              <a:lnSpc>
                <a:spcPct val="200000"/>
              </a:lnSpc>
            </a:pPr>
            <a:endParaRPr lang="es-E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ideario institucional orienta la identidad y la formación universitaria, en tanto que la misión, la visión y los valores expresan su compromiso social (Universidad Cuauhtémoc, Campus en Línea, 2026). En este sentido, su apropiación contribuye al fortalecimiento de mi sentido de pertenencia y de mi desarrollo académico, lo cual permite proyectar mi proceso formativo en coherencia con los fines institucionales.</a:t>
            </a:r>
          </a:p>
        </p:txBody>
      </p:sp>
    </p:spTree>
    <p:extLst>
      <p:ext uri="{BB962C8B-B14F-4D97-AF65-F5344CB8AC3E}">
        <p14:creationId xmlns:p14="http://schemas.microsoft.com/office/powerpoint/2010/main" val="2655082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B29E-B509-E317-E769-1ACA4AA4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C47DC-4EE9-05AE-6F06-92DF9CAD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67E0AF-BA4F-DE11-5314-92AE2C4DE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439822-DBE3-81EE-25BA-91551CFE5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A49907B-5042-25C0-DD56-2E58A75FB4DE}"/>
              </a:ext>
            </a:extLst>
          </p:cNvPr>
          <p:cNvSpPr txBox="1"/>
          <p:nvPr/>
        </p:nvSpPr>
        <p:spPr>
          <a:xfrm>
            <a:off x="1727886" y="1483531"/>
            <a:ext cx="8736227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es-CO" sz="1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Misión</a:t>
            </a:r>
            <a:endParaRPr lang="es-CO" b="1" dirty="0">
              <a:solidFill>
                <a:schemeClr val="accent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  <a:buNone/>
            </a:pPr>
            <a:endParaRPr lang="es-CO" sz="1800" b="1" dirty="0">
              <a:solidFill>
                <a:schemeClr val="accent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  <a:buNone/>
            </a:pPr>
            <a:r>
              <a:rPr lang="es-CO" sz="1800" dirty="0">
                <a:solidFill>
                  <a:srgbClr val="1F386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La misión de la Universidad se centra en la formación integral del estudiante, promoviendo no solo conocimientos científicos y tecnológicos, sino también una sólida base en valores, con el propósito de servir a la sociedad de manera responsable y comprometida. Esto evidencia una visión humanista de la educación, donde el profesional se forma como agente de transformación social.</a:t>
            </a:r>
            <a:endParaRPr lang="es-CO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66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05D5-398E-E430-8AAA-71EC403E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90F02-6356-2C54-1A18-52CCFC14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7C50A9-2D1C-8566-760B-FB46862CD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CBB75F-BF69-DBBA-5918-854DBF724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E67C113-4DCC-7925-BA6D-69677D44FFB3}"/>
              </a:ext>
            </a:extLst>
          </p:cNvPr>
          <p:cNvSpPr txBox="1"/>
          <p:nvPr/>
        </p:nvSpPr>
        <p:spPr>
          <a:xfrm>
            <a:off x="1727886" y="1483531"/>
            <a:ext cx="8736227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CO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Visión</a:t>
            </a:r>
            <a:endParaRPr lang="es-CO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200000"/>
              </a:lnSpc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visión institucional proyecta a la Universidad como una institución reconocida por su calidad educativa, su ética profesional, la formación integral de sus estudiantes y su compromiso con la comunidad. Esto refleja una apuesta clara por la excelencia académica y la responsabilidad social como ejes de su proyección futura</a:t>
            </a:r>
          </a:p>
          <a:p>
            <a:pPr algn="ctr">
              <a:lnSpc>
                <a:spcPct val="200000"/>
              </a:lnSpc>
              <a:buNone/>
            </a:pPr>
            <a:r>
              <a:rPr lang="es-CO" sz="1800" dirty="0">
                <a:solidFill>
                  <a:srgbClr val="1F386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53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B570B-250F-9057-A18A-4981DE67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8985BED-F7CF-0673-BCE2-9E024E114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D99099C-D0F2-7A78-20C6-257AD3708F39}"/>
              </a:ext>
            </a:extLst>
          </p:cNvPr>
          <p:cNvSpPr txBox="1"/>
          <p:nvPr/>
        </p:nvSpPr>
        <p:spPr>
          <a:xfrm>
            <a:off x="1727885" y="681037"/>
            <a:ext cx="8736227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Aft>
                <a:spcPts val="600"/>
              </a:spcAft>
            </a:pPr>
            <a:r>
              <a:rPr lang="es-CO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s-CO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valores institucionales orientan el quehacer académico y formativo de la Universidad. Estos son:</a:t>
            </a: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Ética</a:t>
            </a: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</a:t>
            </a: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Honestidad</a:t>
            </a: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Humildad</a:t>
            </a: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Justicia</a:t>
            </a:r>
          </a:p>
          <a:p>
            <a:pPr marL="285750" lvl="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Bien común</a:t>
            </a:r>
          </a:p>
        </p:txBody>
      </p:sp>
    </p:spTree>
    <p:extLst>
      <p:ext uri="{BB962C8B-B14F-4D97-AF65-F5344CB8AC3E}">
        <p14:creationId xmlns:p14="http://schemas.microsoft.com/office/powerpoint/2010/main" val="276713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A76F-4B10-F02D-ABDC-0BE9DA2F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B0B94-8C3E-0794-0891-9C589795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141D785D-E7CC-2CF0-54B2-112077FB5F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81216"/>
          <a:ext cx="10515600" cy="124015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308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b="1" i="0">
                          <a:effectLst/>
                          <a:latin typeface="Segoe UI" panose="020B0502040204020203" pitchFamily="34" charset="0"/>
                        </a:rPr>
                        <a:t>Importancia de los Valores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Orientan la conducta académica y profesional.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Fortalecen la formación personal del estudiante.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Promueven un actuar ético y socialmente responsable.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713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21558455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9F6A99F4-46E0-8075-280A-4053CE166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16"/>
            <a:ext cx="12192000" cy="6858000"/>
          </a:xfrm>
          <a:prstGeom prst="rect">
            <a:avLst/>
          </a:prstGeom>
        </p:spPr>
      </p:pic>
      <p:graphicFrame>
        <p:nvGraphicFramePr>
          <p:cNvPr id="10" name="CuadroTexto 7">
            <a:extLst>
              <a:ext uri="{FF2B5EF4-FFF2-40B4-BE49-F238E27FC236}">
                <a16:creationId xmlns:a16="http://schemas.microsoft.com/office/drawing/2014/main" id="{FF9806C9-6F5F-B2F1-3A41-F33B27873D0E}"/>
              </a:ext>
            </a:extLst>
          </p:cNvPr>
          <p:cNvGraphicFramePr/>
          <p:nvPr/>
        </p:nvGraphicFramePr>
        <p:xfrm>
          <a:off x="2100649" y="1397675"/>
          <a:ext cx="8699156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089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9B67-3DE9-BC00-6CEF-5505427F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1772F-F661-9411-47C3-6558CD4D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DB8405D4-60F5-2E26-B7DD-FBD16F0595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81216"/>
          <a:ext cx="10515600" cy="124015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308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b="1" i="0">
                          <a:effectLst/>
                          <a:latin typeface="Segoe UI" panose="020B0502040204020203" pitchFamily="34" charset="0"/>
                        </a:rPr>
                        <a:t>Importancia de los Valores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Orientan la conducta académica y profesional.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Fortalecen la formación personal del estudiante.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b="0" i="0">
                          <a:effectLst/>
                          <a:latin typeface="Segoe UI" panose="020B0502040204020203" pitchFamily="34" charset="0"/>
                        </a:rPr>
                        <a:t>Promueven un actuar ético y socialmente responsable.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713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21558455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B6AE568A-7021-4E0B-C162-D619AB34A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784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60D73D7-7F19-CAAF-1492-FFFE90D3CC58}"/>
              </a:ext>
            </a:extLst>
          </p:cNvPr>
          <p:cNvSpPr txBox="1"/>
          <p:nvPr/>
        </p:nvSpPr>
        <p:spPr>
          <a:xfrm>
            <a:off x="1742303" y="482818"/>
            <a:ext cx="72008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ideario institucional orienta la labor académica y formativa.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misión, visión y valores fortalecen una educación integral y socialmente responsable.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reconocen los principios que definen la identidad institucional.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análisis favorece la reflexión sobre su impacto en la práctica profesional.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fortalece el sentido de pertenencia, la conciencia ética y el compromiso social.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75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BC15-C23D-4BAF-DC19-651E9BC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063CA-AE2D-FFB7-1290-63E2D17B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0E4762-1B7B-428F-48B8-E99AAC47C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782594-97B9-1EFD-BC65-48EEA8BA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18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08F477F-30BA-8530-5E99-0262C479AAE4}"/>
              </a:ext>
            </a:extLst>
          </p:cNvPr>
          <p:cNvSpPr txBox="1"/>
          <p:nvPr/>
        </p:nvSpPr>
        <p:spPr>
          <a:xfrm>
            <a:off x="1517821" y="1596807"/>
            <a:ext cx="9156357" cy="1120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es-MX" sz="1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Referencias</a:t>
            </a:r>
            <a:endParaRPr lang="es-CO" sz="18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s-MX" sz="1800" dirty="0">
                <a:solidFill>
                  <a:srgbClr val="1F386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Universidad Cuauhtémoc, Campus en Línea. (2026). Ideario institucional. Autor.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85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9534-F57F-F6E7-30D7-F57B69B8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7157A-03F9-7789-E9AF-325A51A6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3FE47-9A87-3E8B-0C18-6A1612615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040112-4EF5-0760-52F7-6B1B78A1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6788"/>
            <a:ext cx="12257400" cy="68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43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411</Words>
  <Application>Microsoft Office PowerPoint</Application>
  <PresentationFormat>Panorámica</PresentationFormat>
  <Paragraphs>56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DE JESUS ZAMARRIPA DE LUNA</dc:creator>
  <cp:lastModifiedBy>MARCO JULIO CANAS CAMPILLO</cp:lastModifiedBy>
  <cp:revision>3</cp:revision>
  <dcterms:created xsi:type="dcterms:W3CDTF">2025-08-28T18:52:00Z</dcterms:created>
  <dcterms:modified xsi:type="dcterms:W3CDTF">2026-04-29T12:54:21Z</dcterms:modified>
</cp:coreProperties>
</file>